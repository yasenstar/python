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9"/>
  </p:notesMasterIdLst>
  <p:sldIdLst>
    <p:sldId id="320" r:id="rId5"/>
    <p:sldId id="322" r:id="rId6"/>
    <p:sldId id="323" r:id="rId7"/>
    <p:sldId id="32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953"/>
  </p:normalViewPr>
  <p:slideViewPr>
    <p:cSldViewPr snapToGrid="0">
      <p:cViewPr varScale="1">
        <p:scale>
          <a:sx n="94" d="100"/>
          <a:sy n="94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B987B-6643-43AA-9B56-509B80CCD0F3}" type="datetimeFigureOut">
              <a:rPr lang="en-US" smtClean="0"/>
              <a:t>12/27/2025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42F3-CDD5-4B19-B3DB-7C5223465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87D9900-95AD-EC4F-B7E1-959F05210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>
            <a:off x="999081" y="2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600C6AD-400C-F5F8-0A07-09147BFB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7924"/>
          <a:stretch>
            <a:fillRect/>
          </a:stretch>
        </p:blipFill>
        <p:spPr>
          <a:xfrm>
            <a:off x="0" y="191268"/>
            <a:ext cx="2916372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301EBB8-0583-30D5-D5C9-6064F992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b="23302"/>
          <a:stretch>
            <a:fillRect/>
          </a:stretch>
        </p:blipFill>
        <p:spPr>
          <a:xfrm>
            <a:off x="0" y="3632200"/>
            <a:ext cx="3839210" cy="3261166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E425898-E19E-D66B-9FE6-55FE52B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783E0-630B-D6BD-1914-F6A39C573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0801" y="1140460"/>
            <a:ext cx="8001256" cy="5166360"/>
          </a:xfrm>
        </p:spPr>
        <p:txBody>
          <a:bodyPr anchor="ctr"/>
          <a:lstStyle>
            <a:lvl1pPr>
              <a:lnSpc>
                <a:spcPct val="75000"/>
              </a:lnSpc>
              <a:spcBef>
                <a:spcPts val="600"/>
              </a:spcBef>
              <a:spcAft>
                <a:spcPts val="1200"/>
              </a:spcAft>
              <a:defRPr sz="7200" baseline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109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7" y="1091885"/>
            <a:ext cx="5130734" cy="5048973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8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4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800" b="0"/>
            </a:lvl4pPr>
            <a:lvl5pPr marL="2057400" indent="-2286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1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7472374" cy="1913892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6723" y="3152220"/>
            <a:ext cx="6977077" cy="326401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D50F62-7F43-2FBB-55E3-23F6293970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9100" y="1096963"/>
            <a:ext cx="4152900" cy="5761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4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18A9A4E-F149-44F8-9FAE-8ABA2BD26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 flipV="1">
            <a:off x="1881504" y="4663441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44170C3-9FB6-324B-DD88-972B181F5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956" r="-1"/>
          <a:stretch/>
        </p:blipFill>
        <p:spPr>
          <a:xfrm flipH="1">
            <a:off x="10185174" y="1234440"/>
            <a:ext cx="2024907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091CD0-1D83-5BBE-A26C-2D7EAF858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t="-1" b="51667"/>
          <a:stretch/>
        </p:blipFill>
        <p:spPr>
          <a:xfrm flipV="1">
            <a:off x="0" y="-1"/>
            <a:ext cx="3839210" cy="2055127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5" y="1097237"/>
            <a:ext cx="11076631" cy="2885630"/>
          </a:xfrm>
        </p:spPr>
        <p:txBody>
          <a:bodyPr lIns="0" rIns="0"/>
          <a:lstStyle>
            <a:lvl1pPr>
              <a:defRPr sz="72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05300" y="4059067"/>
            <a:ext cx="7338056" cy="26922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5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6" y="1091885"/>
            <a:ext cx="5273043" cy="5056747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11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65" y="3870960"/>
            <a:ext cx="11533835" cy="2941320"/>
          </a:xfrm>
        </p:spPr>
        <p:txBody>
          <a:bodyPr lIns="0" tIns="0" rIns="0" bIns="0" anchor="ctr"/>
          <a:lstStyle>
            <a:lvl1pPr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defRPr sz="720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506222-0BCA-9701-399C-0CF92FA231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112500" cy="37719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9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+ Cont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F0DABCC-5F7F-4B44-B780-46F5D46079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433638"/>
            <a:ext cx="5821363" cy="39671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7926" y="2433005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1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6726" y="2392441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67472" y="2392441"/>
            <a:ext cx="5303523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4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345663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01538" y="2392441"/>
            <a:ext cx="6969458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2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94358" y="2417765"/>
            <a:ext cx="6680202" cy="3967795"/>
          </a:xfrm>
        </p:spPr>
        <p:txBody>
          <a:bodyPr lIns="45720"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740664" indent="-283464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7823200" y="2417763"/>
            <a:ext cx="3838248" cy="3967794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2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66724" y="2417763"/>
            <a:ext cx="11094724" cy="39677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8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697707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5773" y="2392440"/>
            <a:ext cx="3655675" cy="396779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7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19982B1-35C2-DE4A-CC6C-C7EF3864F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1330D7F-AB80-0985-7B65-80D66CC84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1653" b="49194"/>
          <a:stretch>
            <a:fillRect/>
          </a:stretch>
        </p:blipFill>
        <p:spPr>
          <a:xfrm>
            <a:off x="10095411" y="4663440"/>
            <a:ext cx="2121988" cy="2229926"/>
          </a:xfrm>
          <a:custGeom>
            <a:avLst/>
            <a:gdLst>
              <a:gd name="connsiteX0" fmla="*/ 0 w 2121988"/>
              <a:gd name="connsiteY0" fmla="*/ 0 h 2229926"/>
              <a:gd name="connsiteX1" fmla="*/ 2121988 w 2121988"/>
              <a:gd name="connsiteY1" fmla="*/ 0 h 2229926"/>
              <a:gd name="connsiteX2" fmla="*/ 2121988 w 2121988"/>
              <a:gd name="connsiteY2" fmla="*/ 2229926 h 2229926"/>
              <a:gd name="connsiteX3" fmla="*/ 0 w 2121988"/>
              <a:gd name="connsiteY3" fmla="*/ 2229926 h 222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988" h="2229926">
                <a:moveTo>
                  <a:pt x="0" y="0"/>
                </a:moveTo>
                <a:lnTo>
                  <a:pt x="2121988" y="0"/>
                </a:lnTo>
                <a:lnTo>
                  <a:pt x="2121988" y="2229926"/>
                </a:lnTo>
                <a:lnTo>
                  <a:pt x="0" y="2229926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55AA66F-C4B1-E34A-8E6B-F893310B2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000"/>
          <a:stretch>
            <a:fillRect/>
          </a:stretch>
        </p:blipFill>
        <p:spPr>
          <a:xfrm>
            <a:off x="6228080" y="2"/>
            <a:ext cx="4046220" cy="2194559"/>
          </a:xfrm>
          <a:custGeom>
            <a:avLst/>
            <a:gdLst>
              <a:gd name="connsiteX0" fmla="*/ 0 w 4046220"/>
              <a:gd name="connsiteY0" fmla="*/ 0 h 2194559"/>
              <a:gd name="connsiteX1" fmla="*/ 4046220 w 4046220"/>
              <a:gd name="connsiteY1" fmla="*/ 0 h 2194559"/>
              <a:gd name="connsiteX2" fmla="*/ 4046220 w 4046220"/>
              <a:gd name="connsiteY2" fmla="*/ 2194559 h 2194559"/>
              <a:gd name="connsiteX3" fmla="*/ 0 w 40462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2194559">
                <a:moveTo>
                  <a:pt x="0" y="0"/>
                </a:moveTo>
                <a:lnTo>
                  <a:pt x="4046220" y="0"/>
                </a:lnTo>
                <a:lnTo>
                  <a:pt x="40462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5700ADD-BC9D-410F-D6AC-1D0E4F104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00" b="30164"/>
          <a:stretch>
            <a:fillRect/>
          </a:stretch>
        </p:blipFill>
        <p:spPr>
          <a:xfrm>
            <a:off x="0" y="3923964"/>
            <a:ext cx="2194560" cy="2969402"/>
          </a:xfrm>
          <a:custGeom>
            <a:avLst/>
            <a:gdLst>
              <a:gd name="connsiteX0" fmla="*/ 0 w 2194560"/>
              <a:gd name="connsiteY0" fmla="*/ 0 h 2969402"/>
              <a:gd name="connsiteX1" fmla="*/ 2194560 w 2194560"/>
              <a:gd name="connsiteY1" fmla="*/ 0 h 2969402"/>
              <a:gd name="connsiteX2" fmla="*/ 2194560 w 2194560"/>
              <a:gd name="connsiteY2" fmla="*/ 2969402 h 2969402"/>
              <a:gd name="connsiteX3" fmla="*/ 0 w 2194560"/>
              <a:gd name="connsiteY3" fmla="*/ 2969402 h 296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2969402">
                <a:moveTo>
                  <a:pt x="0" y="0"/>
                </a:moveTo>
                <a:lnTo>
                  <a:pt x="2194560" y="0"/>
                </a:lnTo>
                <a:lnTo>
                  <a:pt x="2194560" y="2969402"/>
                </a:lnTo>
                <a:lnTo>
                  <a:pt x="0" y="2969402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091067-F6AB-B1C8-2F06-423B82E6E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807" y="1049447"/>
            <a:ext cx="5910270" cy="5094386"/>
          </a:xfrm>
        </p:spPr>
        <p:txBody>
          <a:bodyPr rIns="0" anchor="ctr"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4F7BB3-A204-D529-DD36-39D4311F354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5077" y="1049447"/>
            <a:ext cx="4922837" cy="509438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2800" b="0"/>
            </a:lvl1pPr>
            <a:lvl2pPr>
              <a:lnSpc>
                <a:spcPct val="100000"/>
              </a:lnSpc>
              <a:spcBef>
                <a:spcPts val="1000"/>
              </a:spcBef>
              <a:defRPr sz="2400" b="0"/>
            </a:lvl2pPr>
            <a:lvl3pPr>
              <a:lnSpc>
                <a:spcPct val="100000"/>
              </a:lnSpc>
              <a:spcBef>
                <a:spcPts val="1000"/>
              </a:spcBef>
              <a:defRPr sz="2000" b="0"/>
            </a:lvl3pPr>
            <a:lvl4pPr>
              <a:lnSpc>
                <a:spcPct val="100000"/>
              </a:lnSpc>
              <a:spcBef>
                <a:spcPts val="1000"/>
              </a:spcBef>
              <a:defRPr sz="1800" b="0"/>
            </a:lvl4pPr>
            <a:lvl5pPr>
              <a:lnSpc>
                <a:spcPct val="100000"/>
              </a:lnSpc>
              <a:spcBef>
                <a:spcPts val="1000"/>
              </a:spcBef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433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806" y="1432518"/>
            <a:ext cx="7958331" cy="22376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1808" y="3696004"/>
            <a:ext cx="7796540" cy="2379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88E8CDA-4B53-1285-4909-D3A5FB6B3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3671" y="459077"/>
            <a:ext cx="2267211" cy="480363"/>
          </a:xfrm>
          <a:prstGeom prst="rect">
            <a:avLst/>
          </a:prstGeom>
        </p:spPr>
        <p:txBody>
          <a:bodyPr vert="horz" lIns="0" tIns="0" rIns="91440" bIns="18288" rtlCol="0" anchor="ctr"/>
          <a:lstStyle>
            <a:lvl1pPr algn="l">
              <a:defRPr sz="12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0A2341-0273-5256-69F5-7D63AFB93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9025" y="459081"/>
            <a:ext cx="789138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40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7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000" b="1" i="0" kern="1200" cap="none" spc="-300">
          <a:solidFill>
            <a:schemeClr val="bg1"/>
          </a:solidFill>
          <a:effectLst/>
          <a:latin typeface="+mj-lt"/>
          <a:ea typeface="+mj-ea"/>
          <a:cs typeface="Kalinga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20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8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6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4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2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FE68D0-70C9-8FD8-C561-6E5A2159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720" y="386081"/>
            <a:ext cx="4305340" cy="60858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CC9015-B7F3-F24D-B127-B0466DA3C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554" y="4123267"/>
            <a:ext cx="4915586" cy="20100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BF772B-3650-D31C-D6C1-7A8A4C4F9B2C}"/>
              </a:ext>
            </a:extLst>
          </p:cNvPr>
          <p:cNvSpPr txBox="1"/>
          <p:nvPr/>
        </p:nvSpPr>
        <p:spPr>
          <a:xfrm>
            <a:off x="10160" y="11225"/>
            <a:ext cx="2123440" cy="1200329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264D0B-60A7-39BB-94D9-2E33F67F83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43651" y="2990474"/>
            <a:ext cx="5024357" cy="33595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1BBDD8-0A72-E913-2448-3BA8443C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280" y="386081"/>
            <a:ext cx="8310880" cy="31699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Python’s openpyxl</a:t>
            </a:r>
            <a:br>
              <a:rPr lang="en-US" sz="60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60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 Opening &amp; Introduction</a:t>
            </a:r>
          </a:p>
        </p:txBody>
      </p:sp>
    </p:spTree>
    <p:extLst>
      <p:ext uri="{BB962C8B-B14F-4D97-AF65-F5344CB8AC3E}">
        <p14:creationId xmlns:p14="http://schemas.microsoft.com/office/powerpoint/2010/main" val="181794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0849CC-D2D0-686A-50A5-4EAE10477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F73AD-649A-60F2-3DAD-33E6267E44B2}"/>
              </a:ext>
            </a:extLst>
          </p:cNvPr>
          <p:cNvSpPr txBox="1"/>
          <p:nvPr/>
        </p:nvSpPr>
        <p:spPr>
          <a:xfrm>
            <a:off x="10160" y="11225"/>
            <a:ext cx="2123440" cy="1200329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929054-2F87-FC68-1F84-6FA7FB35A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4D5254-134A-C452-4779-F107861EC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05" y="611388"/>
            <a:ext cx="10044855" cy="49027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C052DD-97AF-ACCB-ABCD-1A67F839C0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5460" y="5574693"/>
            <a:ext cx="8750300" cy="1062293"/>
          </a:xfrm>
        </p:spPr>
        <p:txBody>
          <a:bodyPr anchor="ctr">
            <a:normAutofit fontScale="85000" lnSpcReduction="10000"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1. Introduction – About openpyxl</a:t>
            </a:r>
          </a:p>
        </p:txBody>
      </p:sp>
    </p:spTree>
    <p:extLst>
      <p:ext uri="{BB962C8B-B14F-4D97-AF65-F5344CB8AC3E}">
        <p14:creationId xmlns:p14="http://schemas.microsoft.com/office/powerpoint/2010/main" val="308606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E447-63A2-3C97-9E86-66FB4F01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65C4B-34A4-06A7-361A-CD8DE288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7F947-2888-4BC7-9B20-C115BC483D8A}"/>
              </a:ext>
            </a:extLst>
          </p:cNvPr>
          <p:cNvSpPr txBox="1"/>
          <p:nvPr/>
        </p:nvSpPr>
        <p:spPr>
          <a:xfrm>
            <a:off x="10160" y="11225"/>
            <a:ext cx="2123440" cy="1200329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91B3BC-A7E9-795C-615E-2747A3C79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551868-34DC-0F9A-9179-D8551CBB2B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5460" y="5574693"/>
            <a:ext cx="8750300" cy="1062293"/>
          </a:xfrm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1. Introduction – First Sample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37E1FF-7FA4-C2F6-B828-778D76B26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" y="611388"/>
            <a:ext cx="10586720" cy="47720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2693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DFB7-8F1D-1A57-32E4-62DD4367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1E7A0-57F6-9E0F-D37B-13655E9B7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63" y="386080"/>
            <a:ext cx="4305340" cy="60858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EDB76D-9EA4-2778-6B64-2DE8170AC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371" y="592521"/>
            <a:ext cx="5776753" cy="2362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 descr="A person sitting on a rock holding a football&#10;&#10;AI-generated content may be incorrect.">
            <a:extLst>
              <a:ext uri="{FF2B5EF4-FFF2-40B4-BE49-F238E27FC236}">
                <a16:creationId xmlns:a16="http://schemas.microsoft.com/office/drawing/2014/main" id="{8EB5F0BD-72CE-A5C9-EA8E-FC9D631BD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31" y="2883601"/>
            <a:ext cx="3688137" cy="39032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64730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D29"/>
      </a:dk2>
      <a:lt2>
        <a:srgbClr val="E6B32E"/>
      </a:lt2>
      <a:accent1>
        <a:srgbClr val="9F9CD8"/>
      </a:accent1>
      <a:accent2>
        <a:srgbClr val="ED95A2"/>
      </a:accent2>
      <a:accent3>
        <a:srgbClr val="8BB9E1"/>
      </a:accent3>
      <a:accent4>
        <a:srgbClr val="C33F51"/>
      </a:accent4>
      <a:accent5>
        <a:srgbClr val="004048"/>
      </a:accent5>
      <a:accent6>
        <a:srgbClr val="8EC0C1"/>
      </a:accent6>
      <a:hlink>
        <a:srgbClr val="6D9D9B"/>
      </a:hlink>
      <a:folHlink>
        <a:srgbClr val="6D8583"/>
      </a:folHlink>
    </a:clrScheme>
    <a:fontScheme name="Custom 116">
      <a:majorFont>
        <a:latin typeface="Kalinga"/>
        <a:ea typeface=""/>
        <a:cs typeface=""/>
      </a:majorFont>
      <a:minorFont>
        <a:latin typeface="Kalinga"/>
        <a:ea typeface=""/>
        <a:cs typeface="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9" id="{1C1685F1-2AF6-4AF8-B809-5763D0E52941}" vid="{50BDB98F-F06A-48E8-BE85-F709AAFF09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FBC208-84B5-4BA7-8306-5BDC2F8CE1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F746E38-3E45-40EB-917C-6C82B8DF19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058098-9A21-440B-BD1E-02659AABD2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Pastels Presentation</Template>
  <TotalTime>80</TotalTime>
  <Words>27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72 Black</vt:lpstr>
      <vt:lpstr>Aharoni</vt:lpstr>
      <vt:lpstr>Arial</vt:lpstr>
      <vt:lpstr>Calibri</vt:lpstr>
      <vt:lpstr>Kalinga</vt:lpstr>
      <vt:lpstr>Trade Gothic Next Heavy</vt:lpstr>
      <vt:lpstr>Wingdings</vt:lpstr>
      <vt:lpstr>Madison</vt:lpstr>
      <vt:lpstr>Mastering Python’s openpyxl - Opening &amp; Introduction</vt:lpstr>
      <vt:lpstr>Mastering openpyxl</vt:lpstr>
      <vt:lpstr>Mastering openpyxl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7</cp:revision>
  <dcterms:created xsi:type="dcterms:W3CDTF">2025-12-27T06:44:44Z</dcterms:created>
  <dcterms:modified xsi:type="dcterms:W3CDTF">2025-12-27T08:12:00Z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19540963-e559-4020-8a90-fe8a502c2801_Enabled">
    <vt:lpwstr>true</vt:lpwstr>
  </property>
  <property fmtid="{D5CDD505-2E9C-101B-9397-08002B2CF9AE}" pid="4" name="MSIP_Label_19540963-e559-4020-8a90-fe8a502c2801_SetDate">
    <vt:lpwstr>2025-12-27T06:51:37Z</vt:lpwstr>
  </property>
  <property fmtid="{D5CDD505-2E9C-101B-9397-08002B2CF9AE}" pid="5" name="MSIP_Label_19540963-e559-4020-8a90-fe8a502c2801_Method">
    <vt:lpwstr>Standard</vt:lpwstr>
  </property>
  <property fmtid="{D5CDD505-2E9C-101B-9397-08002B2CF9AE}" pid="6" name="MSIP_Label_19540963-e559-4020-8a90-fe8a502c2801_Name">
    <vt:lpwstr>19540963-e559-4020-8a90-fe8a502c2801</vt:lpwstr>
  </property>
  <property fmtid="{D5CDD505-2E9C-101B-9397-08002B2CF9AE}" pid="7" name="MSIP_Label_19540963-e559-4020-8a90-fe8a502c2801_SiteId">
    <vt:lpwstr>f25493ae-1c98-41d7-8a33-0be75f5fe603</vt:lpwstr>
  </property>
  <property fmtid="{D5CDD505-2E9C-101B-9397-08002B2CF9AE}" pid="8" name="MSIP_Label_19540963-e559-4020-8a90-fe8a502c2801_ActionId">
    <vt:lpwstr>d4cd69d8-408f-461f-b543-c328172dc96c</vt:lpwstr>
  </property>
  <property fmtid="{D5CDD505-2E9C-101B-9397-08002B2CF9AE}" pid="9" name="MSIP_Label_19540963-e559-4020-8a90-fe8a502c2801_ContentBits">
    <vt:lpwstr>0</vt:lpwstr>
  </property>
  <property fmtid="{D5CDD505-2E9C-101B-9397-08002B2CF9AE}" pid="10" name="MSIP_Label_19540963-e559-4020-8a90-fe8a502c2801_Tag">
    <vt:lpwstr>10, 3, 0, 1</vt:lpwstr>
  </property>
</Properties>
</file>